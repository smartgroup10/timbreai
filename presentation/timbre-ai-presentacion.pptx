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image" Target="../media/image-1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17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365760" cy="365760"/>
          </a:xfrm>
          <a:prstGeom prst="oval">
            <a:avLst/>
          </a:prstGeom>
          <a:solidFill>
            <a:srgbClr val="E85D3C"/>
          </a:solidFill>
          <a:ln w="12700">
            <a:solidFill>
              <a:srgbClr val="E85D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76656" y="676656"/>
            <a:ext cx="109728" cy="109728"/>
          </a:xfrm>
          <a:prstGeom prst="oval">
            <a:avLst/>
          </a:prstGeom>
          <a:solidFill>
            <a:srgbClr val="F5F3EE"/>
          </a:solidFill>
          <a:ln w="12700">
            <a:solidFill>
              <a:srgbClr val="F5F3E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51560" y="5029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5F3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timbre</a:t>
            </a:r>
            <a:pPr indent="0" marL="0">
              <a:buNone/>
            </a:pPr>
            <a:r>
              <a:rPr lang="en-US" sz="2200" dirty="0">
                <a:solidFill>
                  <a:srgbClr val="E85D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.ai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164592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dirty="0">
                <a:solidFill>
                  <a:srgbClr val="F5F3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Bots de voz IA para inmobiliarias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548640" y="301752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FD9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Llamadas salientes y entrantes automatizadas a leads — calificación, agendado de visitas y seguimiento, 24/7.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3931920"/>
            <a:ext cx="548640" cy="36576"/>
          </a:xfrm>
          <a:prstGeom prst="rect">
            <a:avLst/>
          </a:prstGeom>
          <a:solidFill>
            <a:srgbClr val="E85D3C"/>
          </a:solidFill>
          <a:ln w="12700">
            <a:solidFill>
              <a:srgbClr val="E85D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4114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8A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PRESENTACIÓN DE PRODUCTO  ·  V1.0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0" y="41148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A8A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smartgroup.es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E85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1517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Los leads inmobiliarios se enfrían rápido.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210312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0" b="1" dirty="0">
                <a:solidFill>
                  <a:srgbClr val="E85D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78%</a:t>
            </a:r>
            <a:endParaRPr lang="en-US" sz="9000" dirty="0"/>
          </a:p>
        </p:txBody>
      </p:sp>
      <p:sp>
        <p:nvSpPr>
          <p:cNvPr id="5" name="Text 3"/>
          <p:cNvSpPr/>
          <p:nvPr/>
        </p:nvSpPr>
        <p:spPr>
          <a:xfrm>
            <a:off x="457200" y="320040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los leads se pierden si no se contactan en menos de 5 minutos.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754880" y="2103120"/>
            <a:ext cx="3931920" cy="2377440"/>
          </a:xfrm>
          <a:prstGeom prst="rect">
            <a:avLst/>
          </a:prstGeom>
          <a:solidFill>
            <a:srgbClr val="FBFAF6"/>
          </a:solidFill>
          <a:ln w="12700">
            <a:solidFill>
              <a:srgbClr val="D8D3C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37760" y="22860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E85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 EN UN COMERCIAL HUMANO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937760" y="2606040"/>
            <a:ext cx="3657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51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Horario limitado y vacaciones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51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Lentitud al responder fuera de horas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51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Calidad inconsistente entre operadores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51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Difícil escalar a 1.000+ llamadas/día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51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registro de calidad ni auditoría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48006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spc="400" kern="0" dirty="0">
                <a:solidFill>
                  <a:srgbClr val="8A87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timbre.ai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77240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18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4773168"/>
            <a:ext cx="8229600" cy="9144"/>
          </a:xfrm>
          <a:prstGeom prst="rect">
            <a:avLst/>
          </a:prstGeom>
          <a:solidFill>
            <a:srgbClr val="D8D3C5"/>
          </a:solidFill>
          <a:ln w="12700">
            <a:solidFill>
              <a:srgbClr val="D8D3C5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E85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SOLUCIÓN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1517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 agente de voz IA que llama por ti.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Multi-tenant, multi-idioma, integrado con tu CRM y agenda. Conversación natural, en tiempo real.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2194560"/>
            <a:ext cx="2606040" cy="2331720"/>
          </a:xfrm>
          <a:prstGeom prst="rect">
            <a:avLst/>
          </a:prstGeom>
          <a:solidFill>
            <a:srgbClr val="FBFAF6"/>
          </a:solidFill>
          <a:ln w="12700">
            <a:solidFill>
              <a:srgbClr val="D8D3C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2377440"/>
            <a:ext cx="640080" cy="640080"/>
          </a:xfrm>
          <a:prstGeom prst="oval">
            <a:avLst/>
          </a:prstGeom>
          <a:solidFill>
            <a:srgbClr val="E85D3C"/>
          </a:solidFill>
          <a:ln w="12700">
            <a:solidFill>
              <a:srgbClr val="E85D3C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2523744"/>
            <a:ext cx="347472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31520" y="31089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517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Llamadas en tiempo real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731520" y="352044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Conversaciones bidireccionales con latencia sub-segundo sobre tu propio trunk SIP.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246120" y="2194560"/>
            <a:ext cx="2606040" cy="2331720"/>
          </a:xfrm>
          <a:prstGeom prst="rect">
            <a:avLst/>
          </a:prstGeom>
          <a:solidFill>
            <a:srgbClr val="FBFAF6"/>
          </a:solidFill>
          <a:ln w="12700">
            <a:solidFill>
              <a:srgbClr val="D8D3C5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520440" y="2377440"/>
            <a:ext cx="640080" cy="640080"/>
          </a:xfrm>
          <a:prstGeom prst="oval">
            <a:avLst/>
          </a:prstGeom>
          <a:solidFill>
            <a:srgbClr val="E85D3C"/>
          </a:solidFill>
          <a:ln w="12700">
            <a:solidFill>
              <a:srgbClr val="E85D3C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6744" y="2523744"/>
            <a:ext cx="347472" cy="34747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520440" y="31089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517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IA entrenable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3520440" y="352044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bot tiene objetivo, idioma, voz y herramientas a medida. RAG sobre tus propios documentos.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035040" y="2194560"/>
            <a:ext cx="2606040" cy="2331720"/>
          </a:xfrm>
          <a:prstGeom prst="rect">
            <a:avLst/>
          </a:prstGeom>
          <a:solidFill>
            <a:srgbClr val="FBFAF6"/>
          </a:solidFill>
          <a:ln w="12700">
            <a:solidFill>
              <a:srgbClr val="D8D3C5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309360" y="2377440"/>
            <a:ext cx="640080" cy="640080"/>
          </a:xfrm>
          <a:prstGeom prst="oval">
            <a:avLst/>
          </a:prstGeom>
          <a:solidFill>
            <a:srgbClr val="E85D3C"/>
          </a:solidFill>
          <a:ln w="12700">
            <a:solidFill>
              <a:srgbClr val="E85D3C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5664" y="2523744"/>
            <a:ext cx="347472" cy="34747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309360" y="31089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517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Operación 24/7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309360" y="352044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Detección de buzón, reglas de horario por DID, cumplimiento DNC y auditoría completa.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457200" y="48006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spc="400" kern="0" dirty="0">
                <a:solidFill>
                  <a:srgbClr val="8A87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timbre.ai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777240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18</a:t>
            </a:r>
            <a:endParaRPr lang="en-US" sz="900" dirty="0"/>
          </a:p>
        </p:txBody>
      </p:sp>
      <p:sp>
        <p:nvSpPr>
          <p:cNvPr id="22" name="Shape 17"/>
          <p:cNvSpPr/>
          <p:nvPr/>
        </p:nvSpPr>
        <p:spPr>
          <a:xfrm>
            <a:off x="457200" y="4773168"/>
            <a:ext cx="8229600" cy="9144"/>
          </a:xfrm>
          <a:prstGeom prst="rect">
            <a:avLst/>
          </a:prstGeom>
          <a:solidFill>
            <a:srgbClr val="D8D3C5"/>
          </a:solidFill>
          <a:ln w="12700">
            <a:solidFill>
              <a:srgbClr val="D8D3C5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E85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VISIÓN GENERAL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1517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Todo lo que necesitas, en una sola plataforma.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920240"/>
            <a:ext cx="2606040" cy="1234440"/>
          </a:xfrm>
          <a:prstGeom prst="rect">
            <a:avLst/>
          </a:prstGeom>
          <a:solidFill>
            <a:srgbClr val="FBFAF6"/>
          </a:solidFill>
          <a:ln w="12700">
            <a:solidFill>
              <a:srgbClr val="D8D3C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920240"/>
            <a:ext cx="54864" cy="1234440"/>
          </a:xfrm>
          <a:prstGeom prst="rect">
            <a:avLst/>
          </a:prstGeom>
          <a:solidFill>
            <a:srgbClr val="E85D3C"/>
          </a:solidFill>
          <a:ln w="12700">
            <a:solidFill>
              <a:srgbClr val="E85D3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2194560"/>
            <a:ext cx="502920" cy="502920"/>
          </a:xfrm>
          <a:prstGeom prst="oval">
            <a:avLst/>
          </a:prstGeom>
          <a:solidFill>
            <a:srgbClr val="F9E4DD"/>
          </a:solidFill>
          <a:ln w="12700">
            <a:solidFill>
              <a:srgbClr val="F9E4DD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286000"/>
            <a:ext cx="32004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219456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517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Salientes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371600" y="2633472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Campañas masivas con concurrencia y reintentos.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246120" y="1920240"/>
            <a:ext cx="2606040" cy="1234440"/>
          </a:xfrm>
          <a:prstGeom prst="rect">
            <a:avLst/>
          </a:prstGeom>
          <a:solidFill>
            <a:srgbClr val="FBFAF6"/>
          </a:solidFill>
          <a:ln w="12700">
            <a:solidFill>
              <a:srgbClr val="D8D3C5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246120" y="1920240"/>
            <a:ext cx="54864" cy="1234440"/>
          </a:xfrm>
          <a:prstGeom prst="rect">
            <a:avLst/>
          </a:prstGeom>
          <a:solidFill>
            <a:srgbClr val="E85D3C"/>
          </a:solidFill>
          <a:ln w="12700">
            <a:solidFill>
              <a:srgbClr val="E85D3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520440" y="2194560"/>
            <a:ext cx="502920" cy="502920"/>
          </a:xfrm>
          <a:prstGeom prst="oval">
            <a:avLst/>
          </a:prstGeom>
          <a:solidFill>
            <a:srgbClr val="F9E4DD"/>
          </a:solidFill>
          <a:ln w="12700">
            <a:solidFill>
              <a:srgbClr val="F9E4DD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1880" y="2286000"/>
            <a:ext cx="320040" cy="32004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160520" y="219456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517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Entrantes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4160520" y="2633472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Rutas por DID con horario y prefijo del caller.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035040" y="1920240"/>
            <a:ext cx="2606040" cy="1234440"/>
          </a:xfrm>
          <a:prstGeom prst="rect">
            <a:avLst/>
          </a:prstGeom>
          <a:solidFill>
            <a:srgbClr val="FBFAF6"/>
          </a:solidFill>
          <a:ln w="12700">
            <a:solidFill>
              <a:srgbClr val="D8D3C5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035040" y="1920240"/>
            <a:ext cx="54864" cy="1234440"/>
          </a:xfrm>
          <a:prstGeom prst="rect">
            <a:avLst/>
          </a:prstGeom>
          <a:solidFill>
            <a:srgbClr val="E85D3C"/>
          </a:solidFill>
          <a:ln w="12700">
            <a:solidFill>
              <a:srgbClr val="E85D3C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6309360" y="2194560"/>
            <a:ext cx="502920" cy="502920"/>
          </a:xfrm>
          <a:prstGeom prst="oval">
            <a:avLst/>
          </a:prstGeom>
          <a:solidFill>
            <a:srgbClr val="F9E4DD"/>
          </a:solidFill>
          <a:ln w="12700">
            <a:solidFill>
              <a:srgbClr val="F9E4DD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2286000"/>
            <a:ext cx="320040" cy="32004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949440" y="219456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517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Google Calendar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949440" y="2633472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bot agenda visitas durante la llamada.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457200" y="3291840"/>
            <a:ext cx="2606040" cy="1234440"/>
          </a:xfrm>
          <a:prstGeom prst="rect">
            <a:avLst/>
          </a:prstGeom>
          <a:solidFill>
            <a:srgbClr val="FBFAF6"/>
          </a:solidFill>
          <a:ln w="12700">
            <a:solidFill>
              <a:srgbClr val="D8D3C5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457200" y="3291840"/>
            <a:ext cx="54864" cy="1234440"/>
          </a:xfrm>
          <a:prstGeom prst="rect">
            <a:avLst/>
          </a:prstGeom>
          <a:solidFill>
            <a:srgbClr val="E85D3C"/>
          </a:solidFill>
          <a:ln w="12700">
            <a:solidFill>
              <a:srgbClr val="E85D3C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731520" y="3566160"/>
            <a:ext cx="502920" cy="502920"/>
          </a:xfrm>
          <a:prstGeom prst="oval">
            <a:avLst/>
          </a:prstGeom>
          <a:solidFill>
            <a:srgbClr val="F9E4DD"/>
          </a:solidFill>
          <a:ln w="12700">
            <a:solidFill>
              <a:srgbClr val="F9E4DD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3657600"/>
            <a:ext cx="320040" cy="32004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371600" y="356616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517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Knowledge Base</a:t>
            </a:r>
            <a:endParaRPr lang="en-US" sz="1600" dirty="0"/>
          </a:p>
        </p:txBody>
      </p:sp>
      <p:sp>
        <p:nvSpPr>
          <p:cNvPr id="27" name="Text 21"/>
          <p:cNvSpPr/>
          <p:nvPr/>
        </p:nvSpPr>
        <p:spPr>
          <a:xfrm>
            <a:off x="1371600" y="4005072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sobre tu catálogo, FAQs y políticas.</a:t>
            </a:r>
            <a:endParaRPr lang="en-US" sz="1100" dirty="0"/>
          </a:p>
        </p:txBody>
      </p:sp>
      <p:sp>
        <p:nvSpPr>
          <p:cNvPr id="28" name="Shape 22"/>
          <p:cNvSpPr/>
          <p:nvPr/>
        </p:nvSpPr>
        <p:spPr>
          <a:xfrm>
            <a:off x="3246120" y="3291840"/>
            <a:ext cx="2606040" cy="1234440"/>
          </a:xfrm>
          <a:prstGeom prst="rect">
            <a:avLst/>
          </a:prstGeom>
          <a:solidFill>
            <a:srgbClr val="FBFAF6"/>
          </a:solidFill>
          <a:ln w="12700">
            <a:solidFill>
              <a:srgbClr val="D8D3C5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3246120" y="3291840"/>
            <a:ext cx="54864" cy="1234440"/>
          </a:xfrm>
          <a:prstGeom prst="rect">
            <a:avLst/>
          </a:prstGeom>
          <a:solidFill>
            <a:srgbClr val="E85D3C"/>
          </a:solidFill>
          <a:ln w="12700">
            <a:solidFill>
              <a:srgbClr val="E85D3C"/>
            </a:solidFill>
            <a:prstDash val="solid"/>
          </a:ln>
        </p:spPr>
      </p:sp>
      <p:sp>
        <p:nvSpPr>
          <p:cNvPr id="30" name="Shape 24"/>
          <p:cNvSpPr/>
          <p:nvPr/>
        </p:nvSpPr>
        <p:spPr>
          <a:xfrm>
            <a:off x="3520440" y="3566160"/>
            <a:ext cx="502920" cy="502920"/>
          </a:xfrm>
          <a:prstGeom prst="oval">
            <a:avLst/>
          </a:prstGeom>
          <a:solidFill>
            <a:srgbClr val="F9E4DD"/>
          </a:solidFill>
          <a:ln w="12700">
            <a:solidFill>
              <a:srgbClr val="F9E4DD"/>
            </a:solidFill>
            <a:prstDash val="solid"/>
          </a:ln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11880" y="3657600"/>
            <a:ext cx="320040" cy="320040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4160520" y="356616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517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Webhooks → CRM</a:t>
            </a:r>
            <a:endParaRPr lang="en-US" sz="1600" dirty="0"/>
          </a:p>
        </p:txBody>
      </p:sp>
      <p:sp>
        <p:nvSpPr>
          <p:cNvPr id="33" name="Text 26"/>
          <p:cNvSpPr/>
          <p:nvPr/>
        </p:nvSpPr>
        <p:spPr>
          <a:xfrm>
            <a:off x="4160520" y="4005072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Eventos firmados con HMAC hacia tu sistema.</a:t>
            </a:r>
            <a:endParaRPr lang="en-US" sz="1100" dirty="0"/>
          </a:p>
        </p:txBody>
      </p:sp>
      <p:sp>
        <p:nvSpPr>
          <p:cNvPr id="34" name="Shape 27"/>
          <p:cNvSpPr/>
          <p:nvPr/>
        </p:nvSpPr>
        <p:spPr>
          <a:xfrm>
            <a:off x="6035040" y="3291840"/>
            <a:ext cx="2606040" cy="1234440"/>
          </a:xfrm>
          <a:prstGeom prst="rect">
            <a:avLst/>
          </a:prstGeom>
          <a:solidFill>
            <a:srgbClr val="FBFAF6"/>
          </a:solidFill>
          <a:ln w="12700">
            <a:solidFill>
              <a:srgbClr val="D8D3C5"/>
            </a:solidFill>
            <a:prstDash val="solid"/>
          </a:ln>
        </p:spPr>
      </p:sp>
      <p:sp>
        <p:nvSpPr>
          <p:cNvPr id="35" name="Shape 28"/>
          <p:cNvSpPr/>
          <p:nvPr/>
        </p:nvSpPr>
        <p:spPr>
          <a:xfrm>
            <a:off x="6035040" y="3291840"/>
            <a:ext cx="54864" cy="1234440"/>
          </a:xfrm>
          <a:prstGeom prst="rect">
            <a:avLst/>
          </a:prstGeom>
          <a:solidFill>
            <a:srgbClr val="E85D3C"/>
          </a:solidFill>
          <a:ln w="12700">
            <a:solidFill>
              <a:srgbClr val="E85D3C"/>
            </a:solidFill>
            <a:prstDash val="solid"/>
          </a:ln>
        </p:spPr>
      </p:sp>
      <p:sp>
        <p:nvSpPr>
          <p:cNvPr id="36" name="Shape 29"/>
          <p:cNvSpPr/>
          <p:nvPr/>
        </p:nvSpPr>
        <p:spPr>
          <a:xfrm>
            <a:off x="6309360" y="3566160"/>
            <a:ext cx="502920" cy="502920"/>
          </a:xfrm>
          <a:prstGeom prst="oval">
            <a:avLst/>
          </a:prstGeom>
          <a:solidFill>
            <a:srgbClr val="F9E4DD"/>
          </a:solidFill>
          <a:ln w="12700">
            <a:solidFill>
              <a:srgbClr val="F9E4DD"/>
            </a:solidFill>
            <a:prstDash val="solid"/>
          </a:ln>
        </p:spPr>
      </p:sp>
      <p:pic>
        <p:nvPicPr>
          <p:cNvPr id="3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0" y="3657600"/>
            <a:ext cx="320040" cy="320040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6949440" y="356616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517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Coste real</a:t>
            </a:r>
            <a:endParaRPr lang="en-US" sz="1600" dirty="0"/>
          </a:p>
        </p:txBody>
      </p:sp>
      <p:sp>
        <p:nvSpPr>
          <p:cNvPr id="39" name="Text 31"/>
          <p:cNvSpPr/>
          <p:nvPr/>
        </p:nvSpPr>
        <p:spPr>
          <a:xfrm>
            <a:off x="6949440" y="4005072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Desglose STT · LLM · TTS por llamada.</a:t>
            </a:r>
            <a:endParaRPr lang="en-US" sz="1100" dirty="0"/>
          </a:p>
        </p:txBody>
      </p:sp>
      <p:sp>
        <p:nvSpPr>
          <p:cNvPr id="40" name="Text 32"/>
          <p:cNvSpPr/>
          <p:nvPr/>
        </p:nvSpPr>
        <p:spPr>
          <a:xfrm>
            <a:off x="457200" y="48006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spc="400" kern="0" dirty="0">
                <a:solidFill>
                  <a:srgbClr val="8A87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timbre.ai</a:t>
            </a:r>
            <a:endParaRPr lang="en-US" sz="1000" dirty="0"/>
          </a:p>
        </p:txBody>
      </p:sp>
      <p:sp>
        <p:nvSpPr>
          <p:cNvPr id="41" name="Text 33"/>
          <p:cNvSpPr/>
          <p:nvPr/>
        </p:nvSpPr>
        <p:spPr>
          <a:xfrm>
            <a:off x="777240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18</a:t>
            </a:r>
            <a:endParaRPr lang="en-US" sz="900" dirty="0"/>
          </a:p>
        </p:txBody>
      </p:sp>
      <p:sp>
        <p:nvSpPr>
          <p:cNvPr id="42" name="Shape 34"/>
          <p:cNvSpPr/>
          <p:nvPr/>
        </p:nvSpPr>
        <p:spPr>
          <a:xfrm>
            <a:off x="457200" y="4773168"/>
            <a:ext cx="8229600" cy="9144"/>
          </a:xfrm>
          <a:prstGeom prst="rect">
            <a:avLst/>
          </a:prstGeom>
          <a:solidFill>
            <a:srgbClr val="D8D3C5"/>
          </a:solidFill>
          <a:ln w="12700">
            <a:solidFill>
              <a:srgbClr val="D8D3C5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E85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BOTS DE VOZ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1517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Define el bot. La IA hace el resto.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bot tiene su propia personalidad, voz, idioma y comportamiento.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2011680"/>
            <a:ext cx="4023360" cy="2606040"/>
          </a:xfrm>
          <a:prstGeom prst="rect">
            <a:avLst/>
          </a:prstGeom>
          <a:solidFill>
            <a:srgbClr val="FBFAF6"/>
          </a:solidFill>
          <a:ln w="12700">
            <a:solidFill>
              <a:srgbClr val="D8D3C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148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E85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Editor de bot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0080" y="2514600"/>
            <a:ext cx="1554480" cy="274320"/>
          </a:xfrm>
          <a:prstGeom prst="roundRect">
            <a:avLst>
              <a:gd name="adj" fmla="val 16667"/>
            </a:avLst>
          </a:prstGeom>
          <a:solidFill>
            <a:srgbClr val="EBE7DF"/>
          </a:solidFill>
          <a:ln w="6350">
            <a:solidFill>
              <a:srgbClr val="D8D3C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5146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51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Identidad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331720" y="2514600"/>
            <a:ext cx="1554480" cy="274320"/>
          </a:xfrm>
          <a:prstGeom prst="roundRect">
            <a:avLst>
              <a:gd name="adj" fmla="val 16667"/>
            </a:avLst>
          </a:prstGeom>
          <a:solidFill>
            <a:srgbClr val="EBE7DF"/>
          </a:solidFill>
          <a:ln w="6350">
            <a:solidFill>
              <a:srgbClr val="D8D3C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331720" y="25146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51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Voz IA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40080" y="2880360"/>
            <a:ext cx="1554480" cy="274320"/>
          </a:xfrm>
          <a:prstGeom prst="roundRect">
            <a:avLst>
              <a:gd name="adj" fmla="val 16667"/>
            </a:avLst>
          </a:prstGeom>
          <a:solidFill>
            <a:srgbClr val="EBE7DF"/>
          </a:solidFill>
          <a:ln w="6350">
            <a:solidFill>
              <a:srgbClr val="D8D3C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8803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51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Comportamiento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331720" y="2880360"/>
            <a:ext cx="1554480" cy="274320"/>
          </a:xfrm>
          <a:prstGeom prst="roundRect">
            <a:avLst>
              <a:gd name="adj" fmla="val 16667"/>
            </a:avLst>
          </a:prstGeom>
          <a:solidFill>
            <a:srgbClr val="EBE7DF"/>
          </a:solidFill>
          <a:ln w="6350">
            <a:solidFill>
              <a:srgbClr val="D8D3C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331720" y="28803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51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Detección buzón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40080" y="3246120"/>
            <a:ext cx="1554480" cy="274320"/>
          </a:xfrm>
          <a:prstGeom prst="roundRect">
            <a:avLst>
              <a:gd name="adj" fmla="val 16667"/>
            </a:avLst>
          </a:prstGeom>
          <a:solidFill>
            <a:srgbClr val="EBE7DF"/>
          </a:solidFill>
          <a:ln w="6350">
            <a:solidFill>
              <a:srgbClr val="D8D3C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2461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51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331720" y="3246120"/>
            <a:ext cx="1554480" cy="274320"/>
          </a:xfrm>
          <a:prstGeom prst="roundRect">
            <a:avLst>
              <a:gd name="adj" fmla="val 16667"/>
            </a:avLst>
          </a:prstGeom>
          <a:solidFill>
            <a:srgbClr val="EBE7DF"/>
          </a:solidFill>
          <a:ln w="6350">
            <a:solidFill>
              <a:srgbClr val="D8D3C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331720" y="32461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51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40080" y="402336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E85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Objetivo:  </a:t>
            </a:r>
            <a:pPr indent="0" marL="0">
              <a:buNone/>
            </a:pPr>
            <a:r>
              <a:rPr lang="en-US" sz="1100" i="1" dirty="0">
                <a:solidFill>
                  <a:srgbClr val="2A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calificar leads de alquiler en Madrid y agendar visita.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46320" y="20116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E85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CONFIGURABLE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846320" y="2286000"/>
            <a:ext cx="38404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b="1" dirty="0">
                <a:solidFill>
                  <a:srgbClr val="151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Idioma y voz</a:t>
            </a:r>
            <a:endParaRPr lang="en-US" sz="11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8A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idiomas — ES, EN, FR, DE, IT, PT…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b="1" dirty="0">
                <a:solidFill>
                  <a:srgbClr val="151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de IA</a:t>
            </a:r>
            <a:endParaRPr lang="en-US" sz="11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8A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Realtime · Deepgram · AssemblyAI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b="1" dirty="0">
                <a:solidFill>
                  <a:srgbClr val="151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 y reglas</a:t>
            </a:r>
            <a:endParaRPr lang="en-US" sz="11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8A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Identificarse como IA · No inventar precios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48006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spc="400" kern="0" dirty="0">
                <a:solidFill>
                  <a:srgbClr val="8A87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timbre.ai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77240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18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57200" y="4773168"/>
            <a:ext cx="8229600" cy="9144"/>
          </a:xfrm>
          <a:prstGeom prst="rect">
            <a:avLst/>
          </a:prstGeom>
          <a:solidFill>
            <a:srgbClr val="D8D3C5"/>
          </a:solidFill>
          <a:ln w="12700">
            <a:solidFill>
              <a:srgbClr val="D8D3C5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E85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VOZ 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1517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Elige el mejor cerebro para cada bot.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te casamos con un proveedor. Tres opciones de primer nivel — y siempre puedes cambiar.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2194560"/>
            <a:ext cx="2606040" cy="2377440"/>
          </a:xfrm>
          <a:prstGeom prst="rect">
            <a:avLst/>
          </a:prstGeom>
          <a:solidFill>
            <a:srgbClr val="FBFAF6"/>
          </a:solidFill>
          <a:ln w="12700">
            <a:solidFill>
              <a:srgbClr val="D8D3C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2194560"/>
            <a:ext cx="2606040" cy="164592"/>
          </a:xfrm>
          <a:prstGeom prst="rect">
            <a:avLst/>
          </a:prstGeom>
          <a:solidFill>
            <a:srgbClr val="1F8A5B"/>
          </a:solidFill>
          <a:ln w="12700">
            <a:solidFill>
              <a:srgbClr val="1F8A5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24688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517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OpenAI Realtime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85800" y="27889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7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gpt-realtime (GA)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85800" y="3154680"/>
            <a:ext cx="2331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A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Latencia más baja del mercado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A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Voz natural multi-idioma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A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 más barato vs preview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46120" y="2194560"/>
            <a:ext cx="2606040" cy="2377440"/>
          </a:xfrm>
          <a:prstGeom prst="rect">
            <a:avLst/>
          </a:prstGeom>
          <a:solidFill>
            <a:srgbClr val="FBFAF6"/>
          </a:solidFill>
          <a:ln w="12700">
            <a:solidFill>
              <a:srgbClr val="D8D3C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46120" y="2194560"/>
            <a:ext cx="2606040" cy="164592"/>
          </a:xfrm>
          <a:prstGeom prst="rect">
            <a:avLst/>
          </a:prstGeom>
          <a:solidFill>
            <a:srgbClr val="E85D3C"/>
          </a:solidFill>
          <a:ln w="12700">
            <a:solidFill>
              <a:srgbClr val="E85D3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74720" y="24688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517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Deepgram Voice Agent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474720" y="27889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7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STT + LLM + TTS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474720" y="3154680"/>
            <a:ext cx="2331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A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Coste por minuto más ajustado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A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nova-3 / aura-2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A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Pensado para voz, no para chat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35040" y="2194560"/>
            <a:ext cx="2606040" cy="2377440"/>
          </a:xfrm>
          <a:prstGeom prst="rect">
            <a:avLst/>
          </a:prstGeom>
          <a:solidFill>
            <a:srgbClr val="FBFAF6"/>
          </a:solidFill>
          <a:ln w="12700">
            <a:solidFill>
              <a:srgbClr val="D8D3C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035040" y="2194560"/>
            <a:ext cx="2606040" cy="164592"/>
          </a:xfrm>
          <a:prstGeom prst="rect">
            <a:avLst/>
          </a:prstGeom>
          <a:solidFill>
            <a:srgbClr val="B46A1C"/>
          </a:solidFill>
          <a:ln w="12700">
            <a:solidFill>
              <a:srgbClr val="B46A1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63640" y="24688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517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AssemblyAI Universal Streaming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263640" y="27889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7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Streaming end-to-end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263640" y="3154680"/>
            <a:ext cx="2331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A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Buena transcripción de ruido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A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Voces premium en ES y EN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A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Latencia competitiva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48006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spc="400" kern="0" dirty="0">
                <a:solidFill>
                  <a:srgbClr val="8A87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timbre.ai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77240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18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57200" y="4773168"/>
            <a:ext cx="8229600" cy="9144"/>
          </a:xfrm>
          <a:prstGeom prst="rect">
            <a:avLst/>
          </a:prstGeom>
          <a:solidFill>
            <a:srgbClr val="D8D3C5"/>
          </a:solidFill>
          <a:ln w="12700">
            <a:solidFill>
              <a:srgbClr val="D8D3C5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E85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OUTBOUND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1517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Campañas masivas con control fino.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874520"/>
            <a:ext cx="4114800" cy="2743200"/>
          </a:xfrm>
          <a:prstGeom prst="rect">
            <a:avLst/>
          </a:prstGeom>
          <a:solidFill>
            <a:srgbClr val="FBFAF6"/>
          </a:solidFill>
          <a:ln w="12700">
            <a:solidFill>
              <a:srgbClr val="D8D3C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20116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E85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 DE UNA CAMPAÑA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40080" y="2423160"/>
            <a:ext cx="292608" cy="292608"/>
          </a:xfrm>
          <a:prstGeom prst="oval">
            <a:avLst/>
          </a:prstGeom>
          <a:solidFill>
            <a:srgbClr val="F9E4DD"/>
          </a:solidFill>
          <a:ln w="12700">
            <a:solidFill>
              <a:srgbClr val="E85D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4231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64A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51560" y="242316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51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Importas leads (CSV o API)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2834640"/>
            <a:ext cx="292608" cy="292608"/>
          </a:xfrm>
          <a:prstGeom prst="oval">
            <a:avLst/>
          </a:prstGeom>
          <a:solidFill>
            <a:srgbClr val="F9E4DD"/>
          </a:solidFill>
          <a:ln w="12700">
            <a:solidFill>
              <a:srgbClr val="E85D3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8346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64A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51560" y="283464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51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Asignas el bot y la ventana horaria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3246120"/>
            <a:ext cx="292608" cy="292608"/>
          </a:xfrm>
          <a:prstGeom prst="oval">
            <a:avLst/>
          </a:prstGeom>
          <a:solidFill>
            <a:srgbClr val="F9E4DD"/>
          </a:solidFill>
          <a:ln w="12700">
            <a:solidFill>
              <a:srgbClr val="E85D3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2461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64A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51560" y="324612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51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dialer marca con concurrencia × cap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3657600"/>
            <a:ext cx="292608" cy="292608"/>
          </a:xfrm>
          <a:prstGeom prst="oval">
            <a:avLst/>
          </a:prstGeom>
          <a:solidFill>
            <a:srgbClr val="F9E4DD"/>
          </a:solidFill>
          <a:ln w="12700">
            <a:solidFill>
              <a:srgbClr val="E85D3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6576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64A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51560" y="365760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51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Reintentos automáticos con cooldown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0080" y="4069080"/>
            <a:ext cx="292608" cy="292608"/>
          </a:xfrm>
          <a:prstGeom prst="oval">
            <a:avLst/>
          </a:prstGeom>
          <a:solidFill>
            <a:srgbClr val="F9E4DD"/>
          </a:solidFill>
          <a:ln w="12700">
            <a:solidFill>
              <a:srgbClr val="E85D3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40690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64A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51560" y="406908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51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Realtime: ves cada llamada en directo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937760" y="20116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E85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CAPACIDADES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937760" y="2331720"/>
            <a:ext cx="38404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51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Concurrencia configurable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51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call cap por tenant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51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Horario y zona horaria locales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51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Reintentos con backoff exponencial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51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Pausar y reanudar en cualquier momento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51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 de outcome en tiempo real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48006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spc="400" kern="0" dirty="0">
                <a:solidFill>
                  <a:srgbClr val="8A87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timbre.ai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77240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18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57200" y="4773168"/>
            <a:ext cx="8229600" cy="9144"/>
          </a:xfrm>
          <a:prstGeom prst="rect">
            <a:avLst/>
          </a:prstGeom>
          <a:solidFill>
            <a:srgbClr val="D8D3C5"/>
          </a:solidFill>
          <a:ln w="12700">
            <a:solidFill>
              <a:srgbClr val="D8D3C5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E85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INBOUND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1517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Llamadas entrantes con reglas inteligentes.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DID puede tener N reglas por horario, día, prefijo del caller o idioma.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2103120"/>
            <a:ext cx="1554480" cy="1097280"/>
          </a:xfrm>
          <a:prstGeom prst="rect">
            <a:avLst/>
          </a:prstGeom>
          <a:solidFill>
            <a:srgbClr val="FBFAF6"/>
          </a:solidFill>
          <a:ln w="12700">
            <a:solidFill>
              <a:srgbClr val="D8D3C5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228600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26974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1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Caller +34…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2084832" y="2542032"/>
            <a:ext cx="594360" cy="320040"/>
          </a:xfrm>
          <a:prstGeom prst="rightArrow">
            <a:avLst/>
          </a:prstGeom>
          <a:solidFill>
            <a:srgbClr val="E85D3C"/>
          </a:solidFill>
          <a:ln w="12700">
            <a:solidFill>
              <a:srgbClr val="E85D3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743200" y="2103120"/>
            <a:ext cx="1554480" cy="1097280"/>
          </a:xfrm>
          <a:prstGeom prst="rect">
            <a:avLst/>
          </a:prstGeom>
          <a:solidFill>
            <a:srgbClr val="FBFAF6"/>
          </a:solidFill>
          <a:ln w="12700">
            <a:solidFill>
              <a:srgbClr val="D8D3C5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7560" y="2286000"/>
            <a:ext cx="365760" cy="3657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743200" y="26974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1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+34 911…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4370832" y="2542032"/>
            <a:ext cx="594360" cy="320040"/>
          </a:xfrm>
          <a:prstGeom prst="rightArrow">
            <a:avLst/>
          </a:prstGeom>
          <a:solidFill>
            <a:srgbClr val="E85D3C"/>
          </a:solidFill>
          <a:ln w="12700">
            <a:solidFill>
              <a:srgbClr val="E85D3C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5029200" y="2103120"/>
            <a:ext cx="1554480" cy="1097280"/>
          </a:xfrm>
          <a:prstGeom prst="rect">
            <a:avLst/>
          </a:prstGeom>
          <a:solidFill>
            <a:srgbClr val="FBFAF6"/>
          </a:solidFill>
          <a:ln w="12700">
            <a:solidFill>
              <a:srgbClr val="D8D3C5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3560" y="2286000"/>
            <a:ext cx="365760" cy="36576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029200" y="26974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1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Evaluar reglas</a:t>
            </a:r>
            <a:endParaRPr lang="en-US" sz="1000" dirty="0"/>
          </a:p>
        </p:txBody>
      </p:sp>
      <p:sp>
        <p:nvSpPr>
          <p:cNvPr id="16" name="Shape 11"/>
          <p:cNvSpPr/>
          <p:nvPr/>
        </p:nvSpPr>
        <p:spPr>
          <a:xfrm>
            <a:off x="6656832" y="2542032"/>
            <a:ext cx="594360" cy="320040"/>
          </a:xfrm>
          <a:prstGeom prst="rightArrow">
            <a:avLst/>
          </a:prstGeom>
          <a:solidFill>
            <a:srgbClr val="E85D3C"/>
          </a:solidFill>
          <a:ln w="12700">
            <a:solidFill>
              <a:srgbClr val="E85D3C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7315200" y="2103120"/>
            <a:ext cx="1554480" cy="1097280"/>
          </a:xfrm>
          <a:prstGeom prst="rect">
            <a:avLst/>
          </a:prstGeom>
          <a:solidFill>
            <a:srgbClr val="FBFAF6"/>
          </a:solidFill>
          <a:ln w="12700">
            <a:solidFill>
              <a:srgbClr val="D8D3C5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09560" y="2286000"/>
            <a:ext cx="365760" cy="36576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315200" y="26974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1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 adecuado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457200" y="35204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E85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EJEMPLOS DE REGLA</a:t>
            </a:r>
            <a:endParaRPr lang="en-US" sz="1000" dirty="0"/>
          </a:p>
        </p:txBody>
      </p:sp>
      <p:sp>
        <p:nvSpPr>
          <p:cNvPr id="21" name="Shape 15"/>
          <p:cNvSpPr/>
          <p:nvPr/>
        </p:nvSpPr>
        <p:spPr>
          <a:xfrm>
            <a:off x="457200" y="3794760"/>
            <a:ext cx="4023360" cy="292608"/>
          </a:xfrm>
          <a:prstGeom prst="rect">
            <a:avLst/>
          </a:prstGeom>
          <a:solidFill>
            <a:srgbClr val="EBE7DF"/>
          </a:solidFill>
          <a:ln w="12700">
            <a:solidFill>
              <a:srgbClr val="D8D3C5"/>
            </a:solidFill>
            <a:prstDash val="solid"/>
          </a:ln>
        </p:spPr>
      </p:sp>
      <p:sp>
        <p:nvSpPr>
          <p:cNvPr id="22" name="Text 16"/>
          <p:cNvSpPr/>
          <p:nvPr/>
        </p:nvSpPr>
        <p:spPr>
          <a:xfrm>
            <a:off x="594360" y="379476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517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L-V 09:00–18:00 → bot comercial</a:t>
            </a:r>
            <a:endParaRPr lang="en-US" sz="1000" dirty="0"/>
          </a:p>
        </p:txBody>
      </p:sp>
      <p:sp>
        <p:nvSpPr>
          <p:cNvPr id="23" name="Shape 17"/>
          <p:cNvSpPr/>
          <p:nvPr/>
        </p:nvSpPr>
        <p:spPr>
          <a:xfrm>
            <a:off x="4663440" y="3794760"/>
            <a:ext cx="4023360" cy="292608"/>
          </a:xfrm>
          <a:prstGeom prst="rect">
            <a:avLst/>
          </a:prstGeom>
          <a:solidFill>
            <a:srgbClr val="EBE7DF"/>
          </a:solidFill>
          <a:ln w="12700">
            <a:solidFill>
              <a:srgbClr val="D8D3C5"/>
            </a:solidFill>
            <a:prstDash val="solid"/>
          </a:ln>
        </p:spPr>
      </p:sp>
      <p:sp>
        <p:nvSpPr>
          <p:cNvPr id="24" name="Text 18"/>
          <p:cNvSpPr/>
          <p:nvPr/>
        </p:nvSpPr>
        <p:spPr>
          <a:xfrm>
            <a:off x="4800600" y="379476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517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Sábados 10:00–14:00 → bot de guardia</a:t>
            </a:r>
            <a:endParaRPr lang="en-US" sz="1000" dirty="0"/>
          </a:p>
        </p:txBody>
      </p:sp>
      <p:sp>
        <p:nvSpPr>
          <p:cNvPr id="25" name="Shape 19"/>
          <p:cNvSpPr/>
          <p:nvPr/>
        </p:nvSpPr>
        <p:spPr>
          <a:xfrm>
            <a:off x="457200" y="4178808"/>
            <a:ext cx="4023360" cy="292608"/>
          </a:xfrm>
          <a:prstGeom prst="rect">
            <a:avLst/>
          </a:prstGeom>
          <a:solidFill>
            <a:srgbClr val="EBE7DF"/>
          </a:solidFill>
          <a:ln w="12700">
            <a:solidFill>
              <a:srgbClr val="D8D3C5"/>
            </a:solidFill>
            <a:prstDash val="solid"/>
          </a:ln>
        </p:spPr>
      </p:sp>
      <p:sp>
        <p:nvSpPr>
          <p:cNvPr id="26" name="Text 20"/>
          <p:cNvSpPr/>
          <p:nvPr/>
        </p:nvSpPr>
        <p:spPr>
          <a:xfrm>
            <a:off x="594360" y="417880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517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Prefijo +1 → bot en inglés</a:t>
            </a:r>
            <a:endParaRPr lang="en-US" sz="1000" dirty="0"/>
          </a:p>
        </p:txBody>
      </p:sp>
      <p:sp>
        <p:nvSpPr>
          <p:cNvPr id="27" name="Shape 21"/>
          <p:cNvSpPr/>
          <p:nvPr/>
        </p:nvSpPr>
        <p:spPr>
          <a:xfrm>
            <a:off x="4663440" y="4178808"/>
            <a:ext cx="4023360" cy="292608"/>
          </a:xfrm>
          <a:prstGeom prst="rect">
            <a:avLst/>
          </a:prstGeom>
          <a:solidFill>
            <a:srgbClr val="EBE7DF"/>
          </a:solidFill>
          <a:ln w="12700">
            <a:solidFill>
              <a:srgbClr val="D8D3C5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4800600" y="417880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517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Fuera de cualquier regla → bot por defecto del DID</a:t>
            </a:r>
            <a:endParaRPr lang="en-US" sz="1000" dirty="0"/>
          </a:p>
        </p:txBody>
      </p:sp>
      <p:sp>
        <p:nvSpPr>
          <p:cNvPr id="29" name="Text 23"/>
          <p:cNvSpPr/>
          <p:nvPr/>
        </p:nvSpPr>
        <p:spPr>
          <a:xfrm>
            <a:off x="457200" y="48006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spc="400" kern="0" dirty="0">
                <a:solidFill>
                  <a:srgbClr val="8A87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timbre.ai</a:t>
            </a:r>
            <a:endParaRPr lang="en-US" sz="1000" dirty="0"/>
          </a:p>
        </p:txBody>
      </p:sp>
      <p:sp>
        <p:nvSpPr>
          <p:cNvPr id="30" name="Text 24"/>
          <p:cNvSpPr/>
          <p:nvPr/>
        </p:nvSpPr>
        <p:spPr>
          <a:xfrm>
            <a:off x="777240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18</a:t>
            </a:r>
            <a:endParaRPr lang="en-US" sz="900" dirty="0"/>
          </a:p>
        </p:txBody>
      </p:sp>
      <p:sp>
        <p:nvSpPr>
          <p:cNvPr id="31" name="Shape 25"/>
          <p:cNvSpPr/>
          <p:nvPr/>
        </p:nvSpPr>
        <p:spPr>
          <a:xfrm>
            <a:off x="457200" y="4773168"/>
            <a:ext cx="8229600" cy="9144"/>
          </a:xfrm>
          <a:prstGeom prst="rect">
            <a:avLst/>
          </a:prstGeom>
          <a:solidFill>
            <a:srgbClr val="D8D3C5"/>
          </a:solidFill>
          <a:ln w="12700">
            <a:solidFill>
              <a:srgbClr val="D8D3C5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E85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DETECCIÓN DE BUZÓN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1517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 salta el contestador, el bot lo sabe.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Analiza los primeros segundos del audio. Decide en menos de 5s.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2011680"/>
            <a:ext cx="4023360" cy="2606040"/>
          </a:xfrm>
          <a:prstGeom prst="rect">
            <a:avLst/>
          </a:prstGeom>
          <a:solidFill>
            <a:srgbClr val="FBFAF6"/>
          </a:solidFill>
          <a:ln w="12700">
            <a:solidFill>
              <a:srgbClr val="D8D3C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1488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E85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HEURÍSTICA EN VOICE-AGENT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37490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51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Mide RMS energy + duración de bursts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B94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Burst largo sin pausa → buzón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8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Burst corto + silencio → humano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51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en ≤ 4.5s, ~1 µs por frame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846320" y="20116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E85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HACE EL BOT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846320" y="2240280"/>
            <a:ext cx="3840480" cy="658368"/>
          </a:xfrm>
          <a:prstGeom prst="rect">
            <a:avLst/>
          </a:prstGeom>
          <a:solidFill>
            <a:srgbClr val="FBFAF6"/>
          </a:solidFill>
          <a:ln w="12700">
            <a:solidFill>
              <a:srgbClr val="D8D3C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46320" y="2240280"/>
            <a:ext cx="54864" cy="658368"/>
          </a:xfrm>
          <a:prstGeom prst="rect">
            <a:avLst/>
          </a:prstGeom>
          <a:solidFill>
            <a:srgbClr val="B94326"/>
          </a:solidFill>
          <a:ln w="12700">
            <a:solidFill>
              <a:srgbClr val="B9432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0" y="23134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517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Colgar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29200" y="25877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gasta API en una máquina.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846320" y="2990088"/>
            <a:ext cx="3840480" cy="658368"/>
          </a:xfrm>
          <a:prstGeom prst="rect">
            <a:avLst/>
          </a:prstGeom>
          <a:solidFill>
            <a:srgbClr val="FBFAF6"/>
          </a:solidFill>
          <a:ln w="12700">
            <a:solidFill>
              <a:srgbClr val="D8D3C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846320" y="2990088"/>
            <a:ext cx="54864" cy="658368"/>
          </a:xfrm>
          <a:prstGeom prst="rect">
            <a:avLst/>
          </a:prstGeom>
          <a:solidFill>
            <a:srgbClr val="E85D3C"/>
          </a:solidFill>
          <a:ln w="12700">
            <a:solidFill>
              <a:srgbClr val="E85D3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0" y="3063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517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Dejar mensaje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029200" y="3337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Recita un mensaje pregrabado y cuelga.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846320" y="3739896"/>
            <a:ext cx="3840480" cy="658368"/>
          </a:xfrm>
          <a:prstGeom prst="rect">
            <a:avLst/>
          </a:prstGeom>
          <a:solidFill>
            <a:srgbClr val="FBFAF6"/>
          </a:solidFill>
          <a:ln w="12700">
            <a:solidFill>
              <a:srgbClr val="D8D3C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846320" y="3739896"/>
            <a:ext cx="54864" cy="658368"/>
          </a:xfrm>
          <a:prstGeom prst="rect">
            <a:avLst/>
          </a:prstGeom>
          <a:solidFill>
            <a:srgbClr val="8A8780"/>
          </a:solidFill>
          <a:ln w="12700">
            <a:solidFill>
              <a:srgbClr val="8A878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0" y="38130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517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Continuar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029200" y="4087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registra el evento, sigue.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48006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spc="400" kern="0" dirty="0">
                <a:solidFill>
                  <a:srgbClr val="8A87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timbre.ai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77240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18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57200" y="4773168"/>
            <a:ext cx="8229600" cy="9144"/>
          </a:xfrm>
          <a:prstGeom prst="rect">
            <a:avLst/>
          </a:prstGeom>
          <a:solidFill>
            <a:srgbClr val="D8D3C5"/>
          </a:solidFill>
          <a:ln w="12700">
            <a:solidFill>
              <a:srgbClr val="D8D3C5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E85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/ FUNCTION CALLING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1517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bot ejecuta acciones reales en mitad de la llamada.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Biblioteca de herramientas por tenant. Asignas las que quieras a cada bot.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965960"/>
            <a:ext cx="4023360" cy="777240"/>
          </a:xfrm>
          <a:prstGeom prst="rect">
            <a:avLst/>
          </a:prstGeom>
          <a:solidFill>
            <a:srgbClr val="FBFAF6"/>
          </a:solidFill>
          <a:ln w="12700">
            <a:solidFill>
              <a:srgbClr val="D8D3C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2148840"/>
            <a:ext cx="411480" cy="411480"/>
          </a:xfrm>
          <a:prstGeom prst="oval">
            <a:avLst/>
          </a:prstGeom>
          <a:solidFill>
            <a:srgbClr val="F9E4DD"/>
          </a:solidFill>
          <a:ln w="12700">
            <a:solidFill>
              <a:srgbClr val="F9E4DD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2212848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88720" y="207568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17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schedule_meeting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188720" y="23774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en Google Calendar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663440" y="1965960"/>
            <a:ext cx="4023360" cy="777240"/>
          </a:xfrm>
          <a:prstGeom prst="rect">
            <a:avLst/>
          </a:prstGeom>
          <a:solidFill>
            <a:srgbClr val="FBFAF6"/>
          </a:solidFill>
          <a:ln w="12700">
            <a:solidFill>
              <a:srgbClr val="D8D3C5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846320" y="2148840"/>
            <a:ext cx="411480" cy="411480"/>
          </a:xfrm>
          <a:prstGeom prst="oval">
            <a:avLst/>
          </a:prstGeom>
          <a:solidFill>
            <a:srgbClr val="F9E4DD"/>
          </a:solidFill>
          <a:ln w="12700">
            <a:solidFill>
              <a:srgbClr val="F9E4DD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0328" y="2212848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94960" y="207568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17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reschedule_meeting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5394960" y="23774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Mueve la cita del lead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457200" y="2834640"/>
            <a:ext cx="4023360" cy="777240"/>
          </a:xfrm>
          <a:prstGeom prst="rect">
            <a:avLst/>
          </a:prstGeom>
          <a:solidFill>
            <a:srgbClr val="FBFAF6"/>
          </a:solidFill>
          <a:ln w="12700">
            <a:solidFill>
              <a:srgbClr val="D8D3C5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40080" y="3017520"/>
            <a:ext cx="411480" cy="411480"/>
          </a:xfrm>
          <a:prstGeom prst="oval">
            <a:avLst/>
          </a:prstGeom>
          <a:solidFill>
            <a:srgbClr val="F9E4DD"/>
          </a:solidFill>
          <a:ln w="12700">
            <a:solidFill>
              <a:srgbClr val="F9E4DD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" y="3081528"/>
            <a:ext cx="274320" cy="2743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188720" y="294436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17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cancel_meeting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1188720" y="32461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Cancela con verificación de propiedad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4663440" y="2834640"/>
            <a:ext cx="4023360" cy="777240"/>
          </a:xfrm>
          <a:prstGeom prst="rect">
            <a:avLst/>
          </a:prstGeom>
          <a:solidFill>
            <a:srgbClr val="FBFAF6"/>
          </a:solidFill>
          <a:ln w="12700">
            <a:solidFill>
              <a:srgbClr val="D8D3C5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4846320" y="3017520"/>
            <a:ext cx="411480" cy="411480"/>
          </a:xfrm>
          <a:prstGeom prst="oval">
            <a:avLst/>
          </a:prstGeom>
          <a:solidFill>
            <a:srgbClr val="F9E4DD"/>
          </a:solidFill>
          <a:ln w="12700">
            <a:solidFill>
              <a:srgbClr val="F9E4DD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0328" y="3081528"/>
            <a:ext cx="274320" cy="27432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394960" y="294436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17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search_knowledge_base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5394960" y="32461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 en tu RAG</a:t>
            </a:r>
            <a:endParaRPr lang="en-US" sz="1000" dirty="0"/>
          </a:p>
        </p:txBody>
      </p:sp>
      <p:sp>
        <p:nvSpPr>
          <p:cNvPr id="25" name="Shape 19"/>
          <p:cNvSpPr/>
          <p:nvPr/>
        </p:nvSpPr>
        <p:spPr>
          <a:xfrm>
            <a:off x="457200" y="3703320"/>
            <a:ext cx="4023360" cy="777240"/>
          </a:xfrm>
          <a:prstGeom prst="rect">
            <a:avLst/>
          </a:prstGeom>
          <a:solidFill>
            <a:srgbClr val="FBFAF6"/>
          </a:solidFill>
          <a:ln w="12700">
            <a:solidFill>
              <a:srgbClr val="D8D3C5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640080" y="3886200"/>
            <a:ext cx="411480" cy="411480"/>
          </a:xfrm>
          <a:prstGeom prst="oval">
            <a:avLst/>
          </a:prstGeom>
          <a:solidFill>
            <a:srgbClr val="F9E4DD"/>
          </a:solidFill>
          <a:ln w="12700">
            <a:solidFill>
              <a:srgbClr val="F9E4DD"/>
            </a:solidFill>
            <a:prstDash val="solid"/>
          </a:ln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4088" y="3950208"/>
            <a:ext cx="274320" cy="27432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188720" y="381304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17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send_webhook</a:t>
            </a:r>
            <a:endParaRPr lang="en-US" sz="1200" dirty="0"/>
          </a:p>
        </p:txBody>
      </p:sp>
      <p:sp>
        <p:nvSpPr>
          <p:cNvPr id="29" name="Text 22"/>
          <p:cNvSpPr/>
          <p:nvPr/>
        </p:nvSpPr>
        <p:spPr>
          <a:xfrm>
            <a:off x="1188720" y="41148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 a tu CRM</a:t>
            </a:r>
            <a:endParaRPr lang="en-US" sz="1000" dirty="0"/>
          </a:p>
        </p:txBody>
      </p:sp>
      <p:sp>
        <p:nvSpPr>
          <p:cNvPr id="30" name="Shape 23"/>
          <p:cNvSpPr/>
          <p:nvPr/>
        </p:nvSpPr>
        <p:spPr>
          <a:xfrm>
            <a:off x="4663440" y="3703320"/>
            <a:ext cx="4023360" cy="777240"/>
          </a:xfrm>
          <a:prstGeom prst="rect">
            <a:avLst/>
          </a:prstGeom>
          <a:solidFill>
            <a:srgbClr val="FBFAF6"/>
          </a:solidFill>
          <a:ln w="12700">
            <a:solidFill>
              <a:srgbClr val="D8D3C5"/>
            </a:solidFill>
            <a:prstDash val="solid"/>
          </a:ln>
        </p:spPr>
      </p:sp>
      <p:sp>
        <p:nvSpPr>
          <p:cNvPr id="31" name="Shape 24"/>
          <p:cNvSpPr/>
          <p:nvPr/>
        </p:nvSpPr>
        <p:spPr>
          <a:xfrm>
            <a:off x="4846320" y="3886200"/>
            <a:ext cx="411480" cy="411480"/>
          </a:xfrm>
          <a:prstGeom prst="oval">
            <a:avLst/>
          </a:prstGeom>
          <a:solidFill>
            <a:srgbClr val="F9E4DD"/>
          </a:solidFill>
          <a:ln w="12700">
            <a:solidFill>
              <a:srgbClr val="F9E4DD"/>
            </a:solidFill>
            <a:prstDash val="solid"/>
          </a:ln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10328" y="3950208"/>
            <a:ext cx="274320" cy="27432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5394960" y="381304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17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custom_action</a:t>
            </a:r>
            <a:endParaRPr lang="en-US" sz="1200" dirty="0"/>
          </a:p>
        </p:txBody>
      </p:sp>
      <p:sp>
        <p:nvSpPr>
          <p:cNvPr id="34" name="Text 26"/>
          <p:cNvSpPr/>
          <p:nvPr/>
        </p:nvSpPr>
        <p:spPr>
          <a:xfrm>
            <a:off x="5394960" y="41148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Cualquier endpoint REST tuyo</a:t>
            </a:r>
            <a:endParaRPr lang="en-US" sz="1000" dirty="0"/>
          </a:p>
        </p:txBody>
      </p:sp>
      <p:sp>
        <p:nvSpPr>
          <p:cNvPr id="35" name="Text 27"/>
          <p:cNvSpPr/>
          <p:nvPr/>
        </p:nvSpPr>
        <p:spPr>
          <a:xfrm>
            <a:off x="457200" y="48006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spc="400" kern="0" dirty="0">
                <a:solidFill>
                  <a:srgbClr val="8A87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timbre.ai</a:t>
            </a:r>
            <a:endParaRPr lang="en-US" sz="1000" dirty="0"/>
          </a:p>
        </p:txBody>
      </p:sp>
      <p:sp>
        <p:nvSpPr>
          <p:cNvPr id="36" name="Text 28"/>
          <p:cNvSpPr/>
          <p:nvPr/>
        </p:nvSpPr>
        <p:spPr>
          <a:xfrm>
            <a:off x="777240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18</a:t>
            </a:r>
            <a:endParaRPr lang="en-US" sz="900" dirty="0"/>
          </a:p>
        </p:txBody>
      </p:sp>
      <p:sp>
        <p:nvSpPr>
          <p:cNvPr id="37" name="Shape 29"/>
          <p:cNvSpPr/>
          <p:nvPr/>
        </p:nvSpPr>
        <p:spPr>
          <a:xfrm>
            <a:off x="457200" y="4773168"/>
            <a:ext cx="8229600" cy="9144"/>
          </a:xfrm>
          <a:prstGeom prst="rect">
            <a:avLst/>
          </a:prstGeom>
          <a:solidFill>
            <a:srgbClr val="D8D3C5"/>
          </a:solidFill>
          <a:ln w="12700">
            <a:solidFill>
              <a:srgbClr val="D8D3C5"/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E85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BASE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1517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Tu catálogo, FAQs y políticas, dentro del bot.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Sube documentos. El bot los entiende y los usa al hablar con el cliente.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914400" y="2103120"/>
            <a:ext cx="914400" cy="914400"/>
          </a:xfrm>
          <a:prstGeom prst="oval">
            <a:avLst/>
          </a:prstGeom>
          <a:solidFill>
            <a:srgbClr val="F9E4DD"/>
          </a:solidFill>
          <a:ln w="19050">
            <a:solidFill>
              <a:srgbClr val="E85D3C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233172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31546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1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51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documentos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1874520" y="2423160"/>
            <a:ext cx="777240" cy="274320"/>
          </a:xfrm>
          <a:prstGeom prst="rightArrow">
            <a:avLst/>
          </a:prstGeom>
          <a:solidFill>
            <a:srgbClr val="E85D3C"/>
          </a:solidFill>
          <a:ln w="12700">
            <a:solidFill>
              <a:srgbClr val="E85D3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108960" y="2103120"/>
            <a:ext cx="914400" cy="914400"/>
          </a:xfrm>
          <a:prstGeom prst="oval">
            <a:avLst/>
          </a:prstGeom>
          <a:solidFill>
            <a:srgbClr val="F9E4DD"/>
          </a:solidFill>
          <a:ln w="19050">
            <a:solidFill>
              <a:srgbClr val="E85D3C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7560" y="2331720"/>
            <a:ext cx="457200" cy="457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651760" y="31546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1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Chunking +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51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4069080" y="2423160"/>
            <a:ext cx="777240" cy="274320"/>
          </a:xfrm>
          <a:prstGeom prst="rightArrow">
            <a:avLst/>
          </a:prstGeom>
          <a:solidFill>
            <a:srgbClr val="E85D3C"/>
          </a:solidFill>
          <a:ln w="12700">
            <a:solidFill>
              <a:srgbClr val="E85D3C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5303520" y="2103120"/>
            <a:ext cx="914400" cy="914400"/>
          </a:xfrm>
          <a:prstGeom prst="oval">
            <a:avLst/>
          </a:prstGeom>
          <a:solidFill>
            <a:srgbClr val="F9E4DD"/>
          </a:solidFill>
          <a:ln w="19050">
            <a:solidFill>
              <a:srgbClr val="E85D3C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2120" y="2331720"/>
            <a:ext cx="457200" cy="4572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846320" y="31546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1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pgvector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51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tenant-scoped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6263640" y="2423160"/>
            <a:ext cx="777240" cy="274320"/>
          </a:xfrm>
          <a:prstGeom prst="rightArrow">
            <a:avLst/>
          </a:prstGeom>
          <a:solidFill>
            <a:srgbClr val="E85D3C"/>
          </a:solidFill>
          <a:ln w="12700">
            <a:solidFill>
              <a:srgbClr val="E85D3C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7498080" y="2103120"/>
            <a:ext cx="914400" cy="914400"/>
          </a:xfrm>
          <a:prstGeom prst="oval">
            <a:avLst/>
          </a:prstGeom>
          <a:solidFill>
            <a:srgbClr val="F9E4DD"/>
          </a:solidFill>
          <a:ln w="19050">
            <a:solidFill>
              <a:srgbClr val="E85D3C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26680" y="2331720"/>
            <a:ext cx="457200" cy="45720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040880" y="31546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1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Citas en la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51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respuesta del bot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457200" y="3931920"/>
            <a:ext cx="8229600" cy="640080"/>
          </a:xfrm>
          <a:prstGeom prst="rect">
            <a:avLst/>
          </a:prstGeom>
          <a:solidFill>
            <a:srgbClr val="2A2D33"/>
          </a:solidFill>
          <a:ln w="12700">
            <a:solidFill>
              <a:srgbClr val="2A2D33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640080" y="39319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DFD9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1.536 dimensiones · OpenAI text-embedding-3-small · </a:t>
            </a:r>
            <a:pPr indent="0" marL="0">
              <a:buNone/>
            </a:pPr>
            <a:r>
              <a:rPr lang="en-US" sz="1100" b="1" i="1" dirty="0">
                <a:solidFill>
                  <a:srgbClr val="E85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aislamiento total entre tenants</a:t>
            </a:r>
            <a:pPr indent="0" marL="0">
              <a:buNone/>
            </a:pPr>
            <a:r>
              <a:rPr lang="en-US" sz="1100" i="1" dirty="0">
                <a:solidFill>
                  <a:srgbClr val="DFD9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sin entrenar ningún modelo con tus datos.</a:t>
            </a:r>
            <a:endParaRPr lang="en-US" sz="1100" dirty="0"/>
          </a:p>
        </p:txBody>
      </p:sp>
      <p:sp>
        <p:nvSpPr>
          <p:cNvPr id="22" name="Text 16"/>
          <p:cNvSpPr/>
          <p:nvPr/>
        </p:nvSpPr>
        <p:spPr>
          <a:xfrm>
            <a:off x="457200" y="48006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spc="400" kern="0" dirty="0">
                <a:solidFill>
                  <a:srgbClr val="8A87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timbre.ai</a:t>
            </a:r>
            <a:endParaRPr lang="en-US" sz="1000" dirty="0"/>
          </a:p>
        </p:txBody>
      </p:sp>
      <p:sp>
        <p:nvSpPr>
          <p:cNvPr id="23" name="Text 17"/>
          <p:cNvSpPr/>
          <p:nvPr/>
        </p:nvSpPr>
        <p:spPr>
          <a:xfrm>
            <a:off x="777240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18</a:t>
            </a:r>
            <a:endParaRPr lang="en-US" sz="900" dirty="0"/>
          </a:p>
        </p:txBody>
      </p:sp>
      <p:sp>
        <p:nvSpPr>
          <p:cNvPr id="24" name="Shape 18"/>
          <p:cNvSpPr/>
          <p:nvPr/>
        </p:nvSpPr>
        <p:spPr>
          <a:xfrm>
            <a:off x="457200" y="4773168"/>
            <a:ext cx="8229600" cy="9144"/>
          </a:xfrm>
          <a:prstGeom prst="rect">
            <a:avLst/>
          </a:prstGeom>
          <a:solidFill>
            <a:srgbClr val="D8D3C5"/>
          </a:solidFill>
          <a:ln w="12700">
            <a:solidFill>
              <a:srgbClr val="D8D3C5"/>
            </a:solidFill>
            <a:prstDash val="solid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E85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AUTOMÁTICA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1517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bot agenda visitas en tu Google Calendar.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Conexión OAuth segura, refresh tokens cifrados con AES-256-GCM.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2011680"/>
            <a:ext cx="4114800" cy="2606040"/>
          </a:xfrm>
          <a:prstGeom prst="rect">
            <a:avLst/>
          </a:prstGeom>
          <a:solidFill>
            <a:srgbClr val="15171A"/>
          </a:solidFill>
          <a:ln w="12700">
            <a:solidFill>
              <a:srgbClr val="15171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1488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E85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CONVERSACIÓN REAL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38404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E85D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Bot:  </a:t>
            </a:r>
            <a:pPr indent="0" marL="0">
              <a:buNone/>
            </a:pPr>
            <a:r>
              <a:rPr lang="en-US" sz="1300" i="1" dirty="0">
                <a:solidFill>
                  <a:srgbClr val="F5F3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¿Le viene bien el martes a las 17:00?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DFD9C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Lead:  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F5F3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Sí, perfecto.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E85D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Bot:  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F5F3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Confirmado. Le envío invitación a su correo.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846320" y="20116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E85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HACE EL BOT</a:t>
            </a:r>
            <a:endParaRPr lang="en-US" sz="10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2423160"/>
            <a:ext cx="228600" cy="2286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166360" y="237744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51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Agendar nueva cita con disponibilidad real</a:t>
            </a:r>
            <a:endParaRPr lang="en-US" sz="12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2926080"/>
            <a:ext cx="228600" cy="2286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166360" y="288036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51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Reagendar o cancelar (verifica que es del mismo lead)</a:t>
            </a:r>
            <a:endParaRPr lang="en-US" sz="12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3429000"/>
            <a:ext cx="228600" cy="2286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166360" y="338328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51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Envía invitación con datos del lead</a:t>
            </a:r>
            <a:endParaRPr lang="en-US" sz="12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3931920"/>
            <a:ext cx="228600" cy="22860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5166360" y="388620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51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Sincroniza con tu calendar — no hay duplicados</a:t>
            </a:r>
            <a:endParaRPr lang="en-US" sz="1200" dirty="0"/>
          </a:p>
        </p:txBody>
      </p:sp>
      <p:sp>
        <p:nvSpPr>
          <p:cNvPr id="17" name="Text 11"/>
          <p:cNvSpPr/>
          <p:nvPr/>
        </p:nvSpPr>
        <p:spPr>
          <a:xfrm>
            <a:off x="457200" y="48006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spc="400" kern="0" dirty="0">
                <a:solidFill>
                  <a:srgbClr val="8A87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timbre.ai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777240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18</a:t>
            </a:r>
            <a:endParaRPr lang="en-US" sz="900" dirty="0"/>
          </a:p>
        </p:txBody>
      </p:sp>
      <p:sp>
        <p:nvSpPr>
          <p:cNvPr id="19" name="Shape 13"/>
          <p:cNvSpPr/>
          <p:nvPr/>
        </p:nvSpPr>
        <p:spPr>
          <a:xfrm>
            <a:off x="457200" y="4773168"/>
            <a:ext cx="8229600" cy="9144"/>
          </a:xfrm>
          <a:prstGeom prst="rect">
            <a:avLst/>
          </a:prstGeom>
          <a:solidFill>
            <a:srgbClr val="D8D3C5"/>
          </a:solidFill>
          <a:ln w="12700">
            <a:solidFill>
              <a:srgbClr val="D8D3C5"/>
            </a:solidFill>
            <a:prstDash val="solid"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E85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GRABACIONES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1517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Cada llamada queda guardada — sin disparar tu factura.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0" b="1" dirty="0">
                <a:solidFill>
                  <a:srgbClr val="E85D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10×</a:t>
            </a:r>
            <a:endParaRPr lang="en-US" sz="9000" dirty="0"/>
          </a:p>
        </p:txBody>
      </p:sp>
      <p:sp>
        <p:nvSpPr>
          <p:cNvPr id="5" name="Text 3"/>
          <p:cNvSpPr/>
          <p:nvPr/>
        </p:nvSpPr>
        <p:spPr>
          <a:xfrm>
            <a:off x="457200" y="31089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64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MENOS ESPACIO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342900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Compresión OGG/Opus 24 kbps. WAV pasa de 1,92 MB/min a ~180 KB/min.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754880" y="1920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E85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ALMACENAMIENTO INTELIGENTE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754880" y="228600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1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MinIO/S3 compatible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754880" y="251460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propio bucket — control total.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754880" y="285292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1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Presigned URLs on-demand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754880" y="308152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1h de validez, sin links eternos.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754880" y="3419856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1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Retención configurable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754880" y="3648456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Borrado automático a los N días.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54880" y="3986784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1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a disco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754880" y="4215384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Llamadas largas sin truncar.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48006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spc="400" kern="0" dirty="0">
                <a:solidFill>
                  <a:srgbClr val="8A87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timbre.ai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77240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18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4773168"/>
            <a:ext cx="8229600" cy="9144"/>
          </a:xfrm>
          <a:prstGeom prst="rect">
            <a:avLst/>
          </a:prstGeom>
          <a:solidFill>
            <a:srgbClr val="D8D3C5"/>
          </a:solidFill>
          <a:ln w="12700">
            <a:solidFill>
              <a:srgbClr val="D8D3C5"/>
            </a:solidFill>
            <a:prstDash val="solid"/>
          </a:ln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E85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1517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Webhooks firmados hacia tu CRM.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evento importante de la llamada cae en tu sistema en tiempo real.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920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E85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EVENTOS DISPONIBLES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2286000"/>
            <a:ext cx="3931920" cy="365760"/>
          </a:xfrm>
          <a:prstGeom prst="rect">
            <a:avLst/>
          </a:prstGeom>
          <a:solidFill>
            <a:srgbClr val="15171A"/>
          </a:solidFill>
          <a:ln w="12700">
            <a:solidFill>
              <a:srgbClr val="1517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2860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5D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lead.qualified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724912"/>
            <a:ext cx="3931920" cy="365760"/>
          </a:xfrm>
          <a:prstGeom prst="rect">
            <a:avLst/>
          </a:prstGeom>
          <a:solidFill>
            <a:srgbClr val="15171A"/>
          </a:solidFill>
          <a:ln w="12700">
            <a:solidFill>
              <a:srgbClr val="1517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72491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5D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meeting.scheduled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3163824"/>
            <a:ext cx="3931920" cy="365760"/>
          </a:xfrm>
          <a:prstGeom prst="rect">
            <a:avLst/>
          </a:prstGeom>
          <a:solidFill>
            <a:srgbClr val="15171A"/>
          </a:solidFill>
          <a:ln w="12700">
            <a:solidFill>
              <a:srgbClr val="15171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3163824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5D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call.finished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602736"/>
            <a:ext cx="3931920" cy="365760"/>
          </a:xfrm>
          <a:prstGeom prst="rect">
            <a:avLst/>
          </a:prstGeom>
          <a:solidFill>
            <a:srgbClr val="15171A"/>
          </a:solidFill>
          <a:ln w="12700">
            <a:solidFill>
              <a:srgbClr val="15171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602736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5D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call.transferred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4041648"/>
            <a:ext cx="3931920" cy="365760"/>
          </a:xfrm>
          <a:prstGeom prst="rect">
            <a:avLst/>
          </a:prstGeom>
          <a:solidFill>
            <a:srgbClr val="15171A"/>
          </a:solidFill>
          <a:ln w="12700">
            <a:solidFill>
              <a:srgbClr val="15171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404164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5D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do_not_call.requested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46320" y="1920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E85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GARANTÍAS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846320" y="22860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1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HMAC-SHA256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46320" y="25146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Cabecera X-Timbre-Signature. Validas la firma con tu secret.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846320" y="281635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1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Reintentos exponenciales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46320" y="304495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tu endpoint cae, reintenta hasta 24h.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846320" y="334670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1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Histórico auditable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846320" y="357530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últimas 50 entregas visibles en el portal.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846320" y="387705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1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Rotación de secret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846320" y="410565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downtime: nuevo secret, viejo expira en 24h.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57200" y="48006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spc="400" kern="0" dirty="0">
                <a:solidFill>
                  <a:srgbClr val="8A87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timbre.ai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77240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18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57200" y="4773168"/>
            <a:ext cx="8229600" cy="9144"/>
          </a:xfrm>
          <a:prstGeom prst="rect">
            <a:avLst/>
          </a:prstGeom>
          <a:solidFill>
            <a:srgbClr val="D8D3C5"/>
          </a:solidFill>
          <a:ln w="12700">
            <a:solidFill>
              <a:srgbClr val="D8D3C5"/>
            </a:solidFill>
            <a:prstDash val="solid"/>
          </a:ln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E85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REALTIME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1517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 que está pasando ahora, sin recargar.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 push del backend a cada operador. Cmd+K para buscar cualquier cosa.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874520"/>
            <a:ext cx="8229600" cy="2743200"/>
          </a:xfrm>
          <a:prstGeom prst="rect">
            <a:avLst/>
          </a:prstGeom>
          <a:solidFill>
            <a:srgbClr val="FBFAF6"/>
          </a:solidFill>
          <a:ln w="12700">
            <a:solidFill>
              <a:srgbClr val="D8D3C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20116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E85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ESTE MOMENTO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85800" y="22402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517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llamadas en curso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7955280" y="2103120"/>
            <a:ext cx="164592" cy="164592"/>
          </a:xfrm>
          <a:prstGeom prst="oval">
            <a:avLst/>
          </a:prstGeom>
          <a:solidFill>
            <a:srgbClr val="1F8A5B"/>
          </a:solidFill>
          <a:ln w="12700">
            <a:solidFill>
              <a:srgbClr val="1F8A5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0" y="2103120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400" kern="0" dirty="0">
                <a:solidFill>
                  <a:srgbClr val="1F8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85800" y="2880360"/>
            <a:ext cx="2514600" cy="1554480"/>
          </a:xfrm>
          <a:prstGeom prst="rect">
            <a:avLst/>
          </a:prstGeom>
          <a:solidFill>
            <a:srgbClr val="F5F3EE"/>
          </a:solidFill>
          <a:ln w="12700">
            <a:solidFill>
              <a:srgbClr val="D8D3C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9718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17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Juan Pérez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22960" y="3310128"/>
            <a:ext cx="804672" cy="256032"/>
          </a:xfrm>
          <a:prstGeom prst="roundRect">
            <a:avLst>
              <a:gd name="adj" fmla="val 50000"/>
            </a:avLst>
          </a:prstGeom>
          <a:solidFill>
            <a:srgbClr val="1F8A5B"/>
          </a:solidFill>
          <a:ln w="12700">
            <a:solidFill>
              <a:srgbClr val="1F8A5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3310128"/>
            <a:ext cx="804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F5F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HABLANDO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22960" y="36576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7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+34 666 111 222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22960" y="4023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Renting Madrid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383280" y="2880360"/>
            <a:ext cx="2514600" cy="1554480"/>
          </a:xfrm>
          <a:prstGeom prst="rect">
            <a:avLst/>
          </a:prstGeom>
          <a:solidFill>
            <a:srgbClr val="F5F3EE"/>
          </a:solidFill>
          <a:ln w="12700">
            <a:solidFill>
              <a:srgbClr val="D8D3C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520440" y="29718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17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María López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520440" y="3310128"/>
            <a:ext cx="804672" cy="256032"/>
          </a:xfrm>
          <a:prstGeom prst="roundRect">
            <a:avLst>
              <a:gd name="adj" fmla="val 50000"/>
            </a:avLst>
          </a:prstGeom>
          <a:solidFill>
            <a:srgbClr val="B46A1C"/>
          </a:solidFill>
          <a:ln w="12700">
            <a:solidFill>
              <a:srgbClr val="B46A1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520440" y="3310128"/>
            <a:ext cx="804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F5F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MARCANDO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520440" y="36576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7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+34 666 333 444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520440" y="4023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Renting Madrid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080760" y="2880360"/>
            <a:ext cx="2514600" cy="1554480"/>
          </a:xfrm>
          <a:prstGeom prst="rect">
            <a:avLst/>
          </a:prstGeom>
          <a:solidFill>
            <a:srgbClr val="F5F3EE"/>
          </a:solidFill>
          <a:ln w="12700">
            <a:solidFill>
              <a:srgbClr val="D8D3C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17920" y="29718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17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Carlos Ruiz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217920" y="3310128"/>
            <a:ext cx="749808" cy="256032"/>
          </a:xfrm>
          <a:prstGeom prst="roundRect">
            <a:avLst>
              <a:gd name="adj" fmla="val 50000"/>
            </a:avLst>
          </a:prstGeom>
          <a:solidFill>
            <a:srgbClr val="E85D3C"/>
          </a:solidFill>
          <a:ln w="12700">
            <a:solidFill>
              <a:srgbClr val="E85D3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17920" y="3310128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F5F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SONANDO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217920" y="36576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7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+34 666 555 666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217920" y="4023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 BCN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7200" y="48006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spc="400" kern="0" dirty="0">
                <a:solidFill>
                  <a:srgbClr val="8A87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timbre.ai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77240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18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57200" y="4773168"/>
            <a:ext cx="8229600" cy="9144"/>
          </a:xfrm>
          <a:prstGeom prst="rect">
            <a:avLst/>
          </a:prstGeom>
          <a:solidFill>
            <a:srgbClr val="D8D3C5"/>
          </a:solidFill>
          <a:ln w="12700">
            <a:solidFill>
              <a:srgbClr val="D8D3C5"/>
            </a:solidFill>
            <a:prstDash val="solid"/>
          </a:ln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E85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COSTE Y FACTURACIÓN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1517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Sabes lo que cuesta cada llamada.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Desglose por STT, LLM, TTS y trunk. Dashboard agregado por día, proveedor o campaña.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4023360"/>
            <a:ext cx="4572000" cy="0"/>
          </a:xfrm>
          <a:prstGeom prst="line">
            <a:avLst/>
          </a:prstGeom>
          <a:noFill/>
          <a:ln w="12700">
            <a:solidFill>
              <a:srgbClr val="D8D3C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3676198"/>
            <a:ext cx="640080" cy="347162"/>
          </a:xfrm>
          <a:prstGeom prst="rect">
            <a:avLst/>
          </a:prstGeom>
          <a:solidFill>
            <a:srgbClr val="B46A1C"/>
          </a:solidFill>
          <a:ln w="12700">
            <a:solidFill>
              <a:srgbClr val="B46A1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338359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17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$0.14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40690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A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554480" y="2560320"/>
            <a:ext cx="640080" cy="1463040"/>
          </a:xfrm>
          <a:prstGeom prst="rect">
            <a:avLst/>
          </a:prstGeom>
          <a:solidFill>
            <a:srgbClr val="E85D3C"/>
          </a:solidFill>
          <a:ln w="12700">
            <a:solidFill>
              <a:srgbClr val="E85D3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63040" y="226771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17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$0.59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463040" y="40690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A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468880" y="3403428"/>
            <a:ext cx="640080" cy="619932"/>
          </a:xfrm>
          <a:prstGeom prst="rect">
            <a:avLst/>
          </a:prstGeom>
          <a:solidFill>
            <a:srgbClr val="C64A2C"/>
          </a:solidFill>
          <a:ln w="12700">
            <a:solidFill>
              <a:srgbClr val="C64A2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377440" y="31108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17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$0.25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377440" y="40690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A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383280" y="3874576"/>
            <a:ext cx="640080" cy="148784"/>
          </a:xfrm>
          <a:prstGeom prst="rect">
            <a:avLst/>
          </a:prstGeom>
          <a:solidFill>
            <a:srgbClr val="1F8A5B"/>
          </a:solidFill>
          <a:ln w="12700">
            <a:solidFill>
              <a:srgbClr val="1F8A5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91840" y="358196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17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$0.06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291840" y="40690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A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Trunk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297680" y="3924171"/>
            <a:ext cx="640080" cy="99189"/>
          </a:xfrm>
          <a:prstGeom prst="rect">
            <a:avLst/>
          </a:prstGeom>
          <a:solidFill>
            <a:srgbClr val="8A8780"/>
          </a:solidFill>
          <a:ln w="12700">
            <a:solidFill>
              <a:srgbClr val="8A878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06240" y="3631563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17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$0.04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206240" y="40690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A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Otros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943600" y="2011680"/>
            <a:ext cx="2743200" cy="2468880"/>
          </a:xfrm>
          <a:prstGeom prst="rect">
            <a:avLst/>
          </a:prstGeom>
          <a:solidFill>
            <a:srgbClr val="15171A"/>
          </a:solidFill>
          <a:ln w="12700">
            <a:solidFill>
              <a:srgbClr val="15171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26480" y="21945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E85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COSTE LLAMADA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126480" y="2468880"/>
            <a:ext cx="2468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0" b="1" dirty="0">
                <a:solidFill>
                  <a:srgbClr val="F5F3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$1.08</a:t>
            </a:r>
            <a:endParaRPr lang="en-US" sz="7000" dirty="0"/>
          </a:p>
        </p:txBody>
      </p:sp>
      <p:sp>
        <p:nvSpPr>
          <p:cNvPr id="24" name="Text 22"/>
          <p:cNvSpPr/>
          <p:nvPr/>
        </p:nvSpPr>
        <p:spPr>
          <a:xfrm>
            <a:off x="6126480" y="37490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DFD9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min 23 s · OpenAI gpt-realtime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126480" y="40690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Tarifas configurables por componente.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57200" y="48006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spc="400" kern="0" dirty="0">
                <a:solidFill>
                  <a:srgbClr val="8A87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timbre.ai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77240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18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57200" y="4773168"/>
            <a:ext cx="8229600" cy="9144"/>
          </a:xfrm>
          <a:prstGeom prst="rect">
            <a:avLst/>
          </a:prstGeom>
          <a:solidFill>
            <a:srgbClr val="D8D3C5"/>
          </a:solidFill>
          <a:ln w="12700">
            <a:solidFill>
              <a:srgbClr val="D8D3C5"/>
            </a:solidFill>
            <a:prstDash val="solid"/>
          </a:ln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E85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Y CUMPLIMIENTO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1517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Construido pensando en operador serio.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920240"/>
            <a:ext cx="2606040" cy="1234440"/>
          </a:xfrm>
          <a:prstGeom prst="rect">
            <a:avLst/>
          </a:prstGeom>
          <a:solidFill>
            <a:srgbClr val="FBFAF6"/>
          </a:solidFill>
          <a:ln w="12700">
            <a:solidFill>
              <a:srgbClr val="D8D3C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920240"/>
            <a:ext cx="54864" cy="1234440"/>
          </a:xfrm>
          <a:prstGeom prst="rect">
            <a:avLst/>
          </a:prstGeom>
          <a:solidFill>
            <a:srgbClr val="E85D3C"/>
          </a:solidFill>
          <a:ln w="12700">
            <a:solidFill>
              <a:srgbClr val="E85D3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2194560"/>
            <a:ext cx="502920" cy="502920"/>
          </a:xfrm>
          <a:prstGeom prst="oval">
            <a:avLst/>
          </a:prstGeom>
          <a:solidFill>
            <a:srgbClr val="F9E4DD"/>
          </a:solidFill>
          <a:ln w="12700">
            <a:solidFill>
              <a:srgbClr val="F9E4DD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286000"/>
            <a:ext cx="32004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219456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517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Multi-tenant aislado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371600" y="2633472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cliente con su propio espacio. Imposible cruzar datos.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246120" y="1920240"/>
            <a:ext cx="2606040" cy="1234440"/>
          </a:xfrm>
          <a:prstGeom prst="rect">
            <a:avLst/>
          </a:prstGeom>
          <a:solidFill>
            <a:srgbClr val="FBFAF6"/>
          </a:solidFill>
          <a:ln w="12700">
            <a:solidFill>
              <a:srgbClr val="D8D3C5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246120" y="1920240"/>
            <a:ext cx="54864" cy="1234440"/>
          </a:xfrm>
          <a:prstGeom prst="rect">
            <a:avLst/>
          </a:prstGeom>
          <a:solidFill>
            <a:srgbClr val="E85D3C"/>
          </a:solidFill>
          <a:ln w="12700">
            <a:solidFill>
              <a:srgbClr val="E85D3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520440" y="2194560"/>
            <a:ext cx="502920" cy="502920"/>
          </a:xfrm>
          <a:prstGeom prst="oval">
            <a:avLst/>
          </a:prstGeom>
          <a:solidFill>
            <a:srgbClr val="F9E4DD"/>
          </a:solidFill>
          <a:ln w="12700">
            <a:solidFill>
              <a:srgbClr val="F9E4DD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1880" y="2286000"/>
            <a:ext cx="320040" cy="32004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160520" y="219456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517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Roles granulares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4160520" y="2633472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platform_admin, tenant_admin, tenant_agent.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035040" y="1920240"/>
            <a:ext cx="2606040" cy="1234440"/>
          </a:xfrm>
          <a:prstGeom prst="rect">
            <a:avLst/>
          </a:prstGeom>
          <a:solidFill>
            <a:srgbClr val="FBFAF6"/>
          </a:solidFill>
          <a:ln w="12700">
            <a:solidFill>
              <a:srgbClr val="D8D3C5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035040" y="1920240"/>
            <a:ext cx="54864" cy="1234440"/>
          </a:xfrm>
          <a:prstGeom prst="rect">
            <a:avLst/>
          </a:prstGeom>
          <a:solidFill>
            <a:srgbClr val="E85D3C"/>
          </a:solidFill>
          <a:ln w="12700">
            <a:solidFill>
              <a:srgbClr val="E85D3C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6309360" y="2194560"/>
            <a:ext cx="502920" cy="502920"/>
          </a:xfrm>
          <a:prstGeom prst="oval">
            <a:avLst/>
          </a:prstGeom>
          <a:solidFill>
            <a:srgbClr val="F9E4DD"/>
          </a:solidFill>
          <a:ln w="12700">
            <a:solidFill>
              <a:srgbClr val="F9E4DD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2286000"/>
            <a:ext cx="320040" cy="32004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949440" y="219456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517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Audit log completo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949440" y="2633472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Quién hizo qué, cuándo. Filtrable y exportable.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457200" y="3291840"/>
            <a:ext cx="2606040" cy="1234440"/>
          </a:xfrm>
          <a:prstGeom prst="rect">
            <a:avLst/>
          </a:prstGeom>
          <a:solidFill>
            <a:srgbClr val="FBFAF6"/>
          </a:solidFill>
          <a:ln w="12700">
            <a:solidFill>
              <a:srgbClr val="D8D3C5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457200" y="3291840"/>
            <a:ext cx="54864" cy="1234440"/>
          </a:xfrm>
          <a:prstGeom prst="rect">
            <a:avLst/>
          </a:prstGeom>
          <a:solidFill>
            <a:srgbClr val="E85D3C"/>
          </a:solidFill>
          <a:ln w="12700">
            <a:solidFill>
              <a:srgbClr val="E85D3C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731520" y="3566160"/>
            <a:ext cx="502920" cy="502920"/>
          </a:xfrm>
          <a:prstGeom prst="oval">
            <a:avLst/>
          </a:prstGeom>
          <a:solidFill>
            <a:srgbClr val="F9E4DD"/>
          </a:solidFill>
          <a:ln w="12700">
            <a:solidFill>
              <a:srgbClr val="F9E4DD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3657600"/>
            <a:ext cx="320040" cy="32004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371600" y="356616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517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 Not Call</a:t>
            </a:r>
            <a:endParaRPr lang="en-US" sz="1600" dirty="0"/>
          </a:p>
        </p:txBody>
      </p:sp>
      <p:sp>
        <p:nvSpPr>
          <p:cNvPr id="27" name="Text 21"/>
          <p:cNvSpPr/>
          <p:nvPr/>
        </p:nvSpPr>
        <p:spPr>
          <a:xfrm>
            <a:off x="1371600" y="4005072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de bloqueo respetada en todas las campañas.</a:t>
            </a:r>
            <a:endParaRPr lang="en-US" sz="1100" dirty="0"/>
          </a:p>
        </p:txBody>
      </p:sp>
      <p:sp>
        <p:nvSpPr>
          <p:cNvPr id="28" name="Shape 22"/>
          <p:cNvSpPr/>
          <p:nvPr/>
        </p:nvSpPr>
        <p:spPr>
          <a:xfrm>
            <a:off x="3246120" y="3291840"/>
            <a:ext cx="2606040" cy="1234440"/>
          </a:xfrm>
          <a:prstGeom prst="rect">
            <a:avLst/>
          </a:prstGeom>
          <a:solidFill>
            <a:srgbClr val="FBFAF6"/>
          </a:solidFill>
          <a:ln w="12700">
            <a:solidFill>
              <a:srgbClr val="D8D3C5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3246120" y="3291840"/>
            <a:ext cx="54864" cy="1234440"/>
          </a:xfrm>
          <a:prstGeom prst="rect">
            <a:avLst/>
          </a:prstGeom>
          <a:solidFill>
            <a:srgbClr val="E85D3C"/>
          </a:solidFill>
          <a:ln w="12700">
            <a:solidFill>
              <a:srgbClr val="E85D3C"/>
            </a:solidFill>
            <a:prstDash val="solid"/>
          </a:ln>
        </p:spPr>
      </p:sp>
      <p:sp>
        <p:nvSpPr>
          <p:cNvPr id="30" name="Shape 24"/>
          <p:cNvSpPr/>
          <p:nvPr/>
        </p:nvSpPr>
        <p:spPr>
          <a:xfrm>
            <a:off x="3520440" y="3566160"/>
            <a:ext cx="502920" cy="502920"/>
          </a:xfrm>
          <a:prstGeom prst="oval">
            <a:avLst/>
          </a:prstGeom>
          <a:solidFill>
            <a:srgbClr val="F9E4DD"/>
          </a:solidFill>
          <a:ln w="12700">
            <a:solidFill>
              <a:srgbClr val="F9E4DD"/>
            </a:solidFill>
            <a:prstDash val="solid"/>
          </a:ln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11880" y="3657600"/>
            <a:ext cx="320040" cy="320040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4160520" y="356616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517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Secretos cifrados</a:t>
            </a:r>
            <a:endParaRPr lang="en-US" sz="1600" dirty="0"/>
          </a:p>
        </p:txBody>
      </p:sp>
      <p:sp>
        <p:nvSpPr>
          <p:cNvPr id="33" name="Text 26"/>
          <p:cNvSpPr/>
          <p:nvPr/>
        </p:nvSpPr>
        <p:spPr>
          <a:xfrm>
            <a:off x="4160520" y="4005072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AES-256-GCM para tokens OAuth y API keys.</a:t>
            </a:r>
            <a:endParaRPr lang="en-US" sz="1100" dirty="0"/>
          </a:p>
        </p:txBody>
      </p:sp>
      <p:sp>
        <p:nvSpPr>
          <p:cNvPr id="34" name="Shape 27"/>
          <p:cNvSpPr/>
          <p:nvPr/>
        </p:nvSpPr>
        <p:spPr>
          <a:xfrm>
            <a:off x="6035040" y="3291840"/>
            <a:ext cx="2606040" cy="1234440"/>
          </a:xfrm>
          <a:prstGeom prst="rect">
            <a:avLst/>
          </a:prstGeom>
          <a:solidFill>
            <a:srgbClr val="FBFAF6"/>
          </a:solidFill>
          <a:ln w="12700">
            <a:solidFill>
              <a:srgbClr val="D8D3C5"/>
            </a:solidFill>
            <a:prstDash val="solid"/>
          </a:ln>
        </p:spPr>
      </p:sp>
      <p:sp>
        <p:nvSpPr>
          <p:cNvPr id="35" name="Shape 28"/>
          <p:cNvSpPr/>
          <p:nvPr/>
        </p:nvSpPr>
        <p:spPr>
          <a:xfrm>
            <a:off x="6035040" y="3291840"/>
            <a:ext cx="54864" cy="1234440"/>
          </a:xfrm>
          <a:prstGeom prst="rect">
            <a:avLst/>
          </a:prstGeom>
          <a:solidFill>
            <a:srgbClr val="E85D3C"/>
          </a:solidFill>
          <a:ln w="12700">
            <a:solidFill>
              <a:srgbClr val="E85D3C"/>
            </a:solidFill>
            <a:prstDash val="solid"/>
          </a:ln>
        </p:spPr>
      </p:sp>
      <p:sp>
        <p:nvSpPr>
          <p:cNvPr id="36" name="Shape 29"/>
          <p:cNvSpPr/>
          <p:nvPr/>
        </p:nvSpPr>
        <p:spPr>
          <a:xfrm>
            <a:off x="6309360" y="3566160"/>
            <a:ext cx="502920" cy="502920"/>
          </a:xfrm>
          <a:prstGeom prst="oval">
            <a:avLst/>
          </a:prstGeom>
          <a:solidFill>
            <a:srgbClr val="F9E4DD"/>
          </a:solidFill>
          <a:ln w="12700">
            <a:solidFill>
              <a:srgbClr val="F9E4DD"/>
            </a:solidFill>
            <a:prstDash val="solid"/>
          </a:ln>
        </p:spPr>
      </p:sp>
      <p:pic>
        <p:nvPicPr>
          <p:cNvPr id="3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0" y="3657600"/>
            <a:ext cx="320040" cy="320040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6949440" y="356616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517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Visibilidad total</a:t>
            </a:r>
            <a:endParaRPr lang="en-US" sz="1600" dirty="0"/>
          </a:p>
        </p:txBody>
      </p:sp>
      <p:sp>
        <p:nvSpPr>
          <p:cNvPr id="39" name="Text 31"/>
          <p:cNvSpPr/>
          <p:nvPr/>
        </p:nvSpPr>
        <p:spPr>
          <a:xfrm>
            <a:off x="6949440" y="4005072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llamada con transcripción y grabación.</a:t>
            </a:r>
            <a:endParaRPr lang="en-US" sz="1100" dirty="0"/>
          </a:p>
        </p:txBody>
      </p:sp>
      <p:sp>
        <p:nvSpPr>
          <p:cNvPr id="40" name="Text 32"/>
          <p:cNvSpPr/>
          <p:nvPr/>
        </p:nvSpPr>
        <p:spPr>
          <a:xfrm>
            <a:off x="457200" y="48006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spc="400" kern="0" dirty="0">
                <a:solidFill>
                  <a:srgbClr val="8A87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timbre.ai</a:t>
            </a:r>
            <a:endParaRPr lang="en-US" sz="1000" dirty="0"/>
          </a:p>
        </p:txBody>
      </p:sp>
      <p:sp>
        <p:nvSpPr>
          <p:cNvPr id="41" name="Text 33"/>
          <p:cNvSpPr/>
          <p:nvPr/>
        </p:nvSpPr>
        <p:spPr>
          <a:xfrm>
            <a:off x="777240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18</a:t>
            </a:r>
            <a:endParaRPr lang="en-US" sz="900" dirty="0"/>
          </a:p>
        </p:txBody>
      </p:sp>
      <p:sp>
        <p:nvSpPr>
          <p:cNvPr id="42" name="Shape 34"/>
          <p:cNvSpPr/>
          <p:nvPr/>
        </p:nvSpPr>
        <p:spPr>
          <a:xfrm>
            <a:off x="457200" y="4773168"/>
            <a:ext cx="8229600" cy="9144"/>
          </a:xfrm>
          <a:prstGeom prst="rect">
            <a:avLst/>
          </a:prstGeom>
          <a:solidFill>
            <a:srgbClr val="D8D3C5"/>
          </a:solidFill>
          <a:ln w="12700">
            <a:solidFill>
              <a:srgbClr val="D8D3C5"/>
            </a:solidFill>
            <a:prstDash val="solid"/>
          </a:ln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517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365760" cy="365760"/>
          </a:xfrm>
          <a:prstGeom prst="oval">
            <a:avLst/>
          </a:prstGeom>
          <a:solidFill>
            <a:srgbClr val="E85D3C"/>
          </a:solidFill>
          <a:ln w="12700">
            <a:solidFill>
              <a:srgbClr val="E85D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76656" y="676656"/>
            <a:ext cx="109728" cy="109728"/>
          </a:xfrm>
          <a:prstGeom prst="oval">
            <a:avLst/>
          </a:prstGeom>
          <a:solidFill>
            <a:srgbClr val="F5F3EE"/>
          </a:solidFill>
          <a:ln w="12700">
            <a:solidFill>
              <a:srgbClr val="F5F3E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51560" y="5029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5F3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timbre</a:t>
            </a:r>
            <a:pPr indent="0" marL="0">
              <a:buNone/>
            </a:pPr>
            <a:r>
              <a:rPr lang="en-US" sz="2200" dirty="0">
                <a:solidFill>
                  <a:srgbClr val="E85D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.ai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164592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0" dirty="0">
                <a:solidFill>
                  <a:srgbClr val="F5F3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¿Empezamos?</a:t>
            </a:r>
            <a:endParaRPr lang="en-US" sz="6800" dirty="0"/>
          </a:p>
        </p:txBody>
      </p:sp>
      <p:sp>
        <p:nvSpPr>
          <p:cNvPr id="6" name="Text 4"/>
          <p:cNvSpPr/>
          <p:nvPr/>
        </p:nvSpPr>
        <p:spPr>
          <a:xfrm>
            <a:off x="548640" y="283464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DFD9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demo de 30 minutos con tus propios leads.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3657600"/>
            <a:ext cx="2926080" cy="548640"/>
          </a:xfrm>
          <a:prstGeom prst="rect">
            <a:avLst/>
          </a:prstGeom>
          <a:solidFill>
            <a:srgbClr val="E85D3C"/>
          </a:solidFill>
          <a:ln w="12700">
            <a:solidFill>
              <a:srgbClr val="E85D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365760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400" kern="0" dirty="0">
                <a:solidFill>
                  <a:srgbClr val="F5F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RESERVAR DEMO  →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43891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soporte@smartgroup.es  ·  smartgroup.es/timbre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timbre.ai — Plataforma de bots de voz IA</dc:title>
  <dc:subject>PptxGenJS Presentation</dc:subject>
  <dc:creator>timbre.ai</dc:creator>
  <cp:lastModifiedBy>timbre.ai</cp:lastModifiedBy>
  <cp:revision>1</cp:revision>
  <dcterms:created xsi:type="dcterms:W3CDTF">2026-05-18T09:35:27Z</dcterms:created>
  <dcterms:modified xsi:type="dcterms:W3CDTF">2026-05-18T09:35:27Z</dcterms:modified>
</cp:coreProperties>
</file>